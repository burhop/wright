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9df15056824dcc" /><Relationship Type="http://schemas.openxmlformats.org/officeDocument/2006/relationships/extended-properties" Target="/docProps/app.xml" Id="R9f2e0544ec2141a2" /><Relationship Type="http://schemas.openxmlformats.org/officeDocument/2006/relationships/officeDocument" Target="/ppt/presentation.xml" Id="R4722f6251ae24b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91f2c058384106"/>
  </p:sldMasterIdLst>
  <p:notesMasterIdLst>
    <p:notesMasterId xmlns:r="http://schemas.openxmlformats.org/officeDocument/2006/relationships" r:id="R3c3ac31d97964727"/>
  </p:notesMasterIdLst>
  <p:sldIdLst>
    <p:sldId xmlns:r="http://schemas.openxmlformats.org/officeDocument/2006/relationships" id="256" r:id="R2d8971f7918e4fac"/>
    <p:sldId xmlns:r="http://schemas.openxmlformats.org/officeDocument/2006/relationships" id="257" r:id="R983ebe6585e1447f"/>
    <p:sldId xmlns:r="http://schemas.openxmlformats.org/officeDocument/2006/relationships" id="258" r:id="Rbb583c3ff2ee454d"/>
    <p:sldId xmlns:r="http://schemas.openxmlformats.org/officeDocument/2006/relationships" id="259" r:id="R1ea7c9c381ec4ba4"/>
    <p:sldId xmlns:r="http://schemas.openxmlformats.org/officeDocument/2006/relationships" id="260" r:id="R4662eae316ff49cb"/>
    <p:sldId xmlns:r="http://schemas.openxmlformats.org/officeDocument/2006/relationships" id="261" r:id="R5227bef444fd42fc"/>
    <p:sldId xmlns:r="http://schemas.openxmlformats.org/officeDocument/2006/relationships" id="262" r:id="Rc32dbafddf354629"/>
    <p:sldId xmlns:r="http://schemas.openxmlformats.org/officeDocument/2006/relationships" id="263" r:id="R5f3ed944bb6b4265"/>
    <p:sldId xmlns:r="http://schemas.openxmlformats.org/officeDocument/2006/relationships" id="264" r:id="R6dc7c04db2974f7e"/>
    <p:sldId xmlns:r="http://schemas.openxmlformats.org/officeDocument/2006/relationships" id="265" r:id="R7285279754a24783"/>
    <p:sldId xmlns:r="http://schemas.openxmlformats.org/officeDocument/2006/relationships" id="266" r:id="R66cf7e276916468c"/>
    <p:sldId xmlns:r="http://schemas.openxmlformats.org/officeDocument/2006/relationships" id="267" r:id="Rf63ade1969f84ef7"/>
    <p:sldId xmlns:r="http://schemas.openxmlformats.org/officeDocument/2006/relationships" id="268" r:id="R37dfb91a073949a5"/>
    <p:sldId xmlns:r="http://schemas.openxmlformats.org/officeDocument/2006/relationships" id="269" r:id="R586803f8e6e340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e332413a0647ba" /><Relationship Type="http://schemas.openxmlformats.org/officeDocument/2006/relationships/slideMaster" Target="/ppt/slideMasters/slideMaster1.xml" Id="R9f91f2c058384106" /><Relationship Type="http://schemas.openxmlformats.org/officeDocument/2006/relationships/notesMaster" Target="/ppt/notesMasters/notesMaster1.xml" Id="R3c3ac31d97964727" /><Relationship Type="http://schemas.openxmlformats.org/officeDocument/2006/relationships/presProps" Target="/ppt/presProps.xml" Id="R24337b99e8314c9c" /><Relationship Type="http://schemas.openxmlformats.org/officeDocument/2006/relationships/tableStyles" Target="/ppt/tableStyles.xml" Id="Ra688d0ab10c04644" /><Relationship Type="http://schemas.openxmlformats.org/officeDocument/2006/relationships/slide" Target="/ppt/slides/slide1.xml" Id="R2d8971f7918e4fac" /><Relationship Type="http://schemas.openxmlformats.org/officeDocument/2006/relationships/slide" Target="/ppt/slides/slide2.xml" Id="R983ebe6585e1447f" /><Relationship Type="http://schemas.openxmlformats.org/officeDocument/2006/relationships/slide" Target="/ppt/slides/slide3.xml" Id="Rbb583c3ff2ee454d" /><Relationship Type="http://schemas.openxmlformats.org/officeDocument/2006/relationships/slide" Target="/ppt/slides/slide4.xml" Id="R1ea7c9c381ec4ba4" /><Relationship Type="http://schemas.openxmlformats.org/officeDocument/2006/relationships/slide" Target="/ppt/slides/slide5.xml" Id="R4662eae316ff49cb" /><Relationship Type="http://schemas.openxmlformats.org/officeDocument/2006/relationships/slide" Target="/ppt/slides/slide6.xml" Id="R5227bef444fd42fc" /><Relationship Type="http://schemas.openxmlformats.org/officeDocument/2006/relationships/slide" Target="/ppt/slides/slide7.xml" Id="Rc32dbafddf354629" /><Relationship Type="http://schemas.openxmlformats.org/officeDocument/2006/relationships/slide" Target="/ppt/slides/slide8.xml" Id="R5f3ed944bb6b4265" /><Relationship Type="http://schemas.openxmlformats.org/officeDocument/2006/relationships/slide" Target="/ppt/slides/slide9.xml" Id="R6dc7c04db2974f7e" /><Relationship Type="http://schemas.openxmlformats.org/officeDocument/2006/relationships/slide" Target="/ppt/slides/slide10.xml" Id="R7285279754a24783" /><Relationship Type="http://schemas.openxmlformats.org/officeDocument/2006/relationships/slide" Target="/ppt/slides/slide11.xml" Id="R66cf7e276916468c" /><Relationship Type="http://schemas.openxmlformats.org/officeDocument/2006/relationships/slide" Target="/ppt/slides/slide12.xml" Id="Rf63ade1969f84ef7" /><Relationship Type="http://schemas.openxmlformats.org/officeDocument/2006/relationships/slide" Target="/ppt/slides/slide13.xml" Id="R37dfb91a073949a5" /><Relationship Type="http://schemas.openxmlformats.org/officeDocument/2006/relationships/slide" Target="/ppt/slides/slide14.xml" Id="R586803f8e6e340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153b1fabe341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b9b4892d934285" /><Relationship Type="http://schemas.openxmlformats.org/officeDocument/2006/relationships/notesMaster" Target="/ppt/notesMasters/notesMaster1.xml" Id="R1ccd3987441641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1afe3a788041f3" /><Relationship Type="http://schemas.openxmlformats.org/officeDocument/2006/relationships/notesMaster" Target="/ppt/notesMasters/notesMaster1.xml" Id="R04450ae5339347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5385d10fb94305" /><Relationship Type="http://schemas.openxmlformats.org/officeDocument/2006/relationships/notesMaster" Target="/ppt/notesMasters/notesMaster1.xml" Id="Re9275b2cc30740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40401707c7468a" /><Relationship Type="http://schemas.openxmlformats.org/officeDocument/2006/relationships/notesMaster" Target="/ppt/notesMasters/notesMaster1.xml" Id="R7d78dfde15ce45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1997a3b6644011" /><Relationship Type="http://schemas.openxmlformats.org/officeDocument/2006/relationships/notesMaster" Target="/ppt/notesMasters/notesMaster1.xml" Id="R26cfc2b314c848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1468b660e14649" /><Relationship Type="http://schemas.openxmlformats.org/officeDocument/2006/relationships/notesMaster" Target="/ppt/notesMasters/notesMaster1.xml" Id="R4c1403e12f934a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2dc7f4fc6d468b" /><Relationship Type="http://schemas.openxmlformats.org/officeDocument/2006/relationships/notesMaster" Target="/ppt/notesMasters/notesMaster1.xml" Id="R65e05e3f5f7a41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34d7ce14c14039" /><Relationship Type="http://schemas.openxmlformats.org/officeDocument/2006/relationships/notesMaster" Target="/ppt/notesMasters/notesMaster1.xml" Id="Ra65edcbfa2164b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63f15181024d2b" /><Relationship Type="http://schemas.openxmlformats.org/officeDocument/2006/relationships/notesMaster" Target="/ppt/notesMasters/notesMaster1.xml" Id="R9ab80167297646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7b56d991e544c6" /><Relationship Type="http://schemas.openxmlformats.org/officeDocument/2006/relationships/notesMaster" Target="/ppt/notesMasters/notesMaster1.xml" Id="Raf3bd50c77fc4c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1697ad227a48c3" /><Relationship Type="http://schemas.openxmlformats.org/officeDocument/2006/relationships/notesMaster" Target="/ppt/notesMasters/notesMaster1.xml" Id="Rb138030d46cc40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9b1f69754f4694" /><Relationship Type="http://schemas.openxmlformats.org/officeDocument/2006/relationships/notesMaster" Target="/ppt/notesMasters/notesMaster1.xml" Id="Ra2c43c7bc74a4d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c0942a13c9449c" /><Relationship Type="http://schemas.openxmlformats.org/officeDocument/2006/relationships/notesMaster" Target="/ppt/notesMasters/notesMaster1.xml" Id="R841086bd89ab41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6d87c4f81543e9" /><Relationship Type="http://schemas.openxmlformats.org/officeDocument/2006/relationships/notesMaster" Target="/ppt/notesMasters/notesMaster1.xml" Id="R158c3f212c654a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deck content: pasted-text.txt</a:t>
            </a:r>
          </a:p>
          <a:p xmlns:a="http://schemas.openxmlformats.org/drawingml/2006/main">
            <a:r>
              <a:t>- Wright implementation context: specs/064-retained-editor-host/plan.md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d20cd8b4f49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a50ddde2e44c3f" /><Relationship Type="http://schemas.openxmlformats.org/officeDocument/2006/relationships/slideLayout" Target="/ppt/slideLayouts/slideLayout1.xml" Id="R19beda8d245746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beda8d245746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7baa8d4c04e99" /><Relationship Type="http://schemas.openxmlformats.org/officeDocument/2006/relationships/notesSlide" Target="/ppt/notesSlides/notesSlide1.xml" Id="Rbbaa019c134f4e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249eb122e472d" /><Relationship Type="http://schemas.openxmlformats.org/officeDocument/2006/relationships/notesSlide" Target="/ppt/notesSlides/notesSlide2.xml" Id="R50219db1a2aa45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dad4947b54d58" /><Relationship Type="http://schemas.openxmlformats.org/officeDocument/2006/relationships/notesSlide" Target="/ppt/notesSlides/notesSlide3.xml" Id="R3141935728da46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9cbadb7fb4ecd" /><Relationship Type="http://schemas.openxmlformats.org/officeDocument/2006/relationships/notesSlide" Target="/ppt/notesSlides/notesSlide4.xml" Id="R470932970aa044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0fa7a978545fa" /><Relationship Type="http://schemas.openxmlformats.org/officeDocument/2006/relationships/notesSlide" Target="/ppt/notesSlides/notesSlide5.xml" Id="R81944ab567f346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957d85c6b453f" /><Relationship Type="http://schemas.openxmlformats.org/officeDocument/2006/relationships/notesSlide" Target="/ppt/notesSlides/notesSlide6.xml" Id="R478ac0ef725f41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7db6c030846bf" /><Relationship Type="http://schemas.openxmlformats.org/officeDocument/2006/relationships/notesSlide" Target="/ppt/notesSlides/notesSlide7.xml" Id="R10d6a502ce0942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64f1da3524340" /><Relationship Type="http://schemas.openxmlformats.org/officeDocument/2006/relationships/notesSlide" Target="/ppt/notesSlides/notesSlide8.xml" Id="R03f67e24b99848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0bd72519b45b2" /><Relationship Type="http://schemas.openxmlformats.org/officeDocument/2006/relationships/notesSlide" Target="/ppt/notesSlides/notesSlide9.xml" Id="Rb01b20ddc2d54a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44f1eaabb46c7" /><Relationship Type="http://schemas.openxmlformats.org/officeDocument/2006/relationships/notesSlide" Target="/ppt/notesSlides/notesSlide10.xml" Id="R297ad7e2959840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ae065a6b64216" /><Relationship Type="http://schemas.openxmlformats.org/officeDocument/2006/relationships/notesSlide" Target="/ppt/notesSlides/notesSlide11.xml" Id="R08a4230023e344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4955e12d54b69" /><Relationship Type="http://schemas.openxmlformats.org/officeDocument/2006/relationships/notesSlide" Target="/ppt/notesSlides/notesSlide12.xml" Id="R9159385c9a644f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2c0c1f57c4101" /><Relationship Type="http://schemas.openxmlformats.org/officeDocument/2006/relationships/notesSlide" Target="/ppt/notesSlides/notesSlide13.xml" Id="R4643074c1f0a4d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0d3b548c64481" /><Relationship Type="http://schemas.openxmlformats.org/officeDocument/2006/relationships/notesSlide" Target="/ppt/notesSlides/notesSlide14.xml" Id="Rda80443a6d5b4c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6F9AF-1653-4810-BA84-2E7E0A25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WRIGHT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31E60-2569-4472-8FB3-2F983FFB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76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Wright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74E4A-FDFD-4E6F-8875-7F092FED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666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D9E8FF"/>
                </a:solidFill>
              </a:defRPr>
            </a:pPr>
            <a:r>
              <a:rPr sz="2550" b="0">
                <a:solidFill>
                  <a:srgbClr val="D9E8FF"/>
                </a:solidFill>
              </a:rPr>
              <a:t>Open agent software for</a:t>
            </a:r>
          </a:p>
          <a:p xmlns:a="http://schemas.openxmlformats.org/drawingml/2006/main">
            <a:pPr algn="l">
              <a:defRPr sz="2550" b="0">
                <a:solidFill>
                  <a:srgbClr val="D9E8FF"/>
                </a:solidFill>
              </a:defRPr>
            </a:pPr>
            <a:r>
              <a:rPr sz="2550" b="0">
                <a:solidFill>
                  <a:srgbClr val="D9E8FF"/>
                </a:solidFill>
              </a:rPr>
              <a:t>every engineering toolchain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F5B17-7ABC-46D0-9813-28937861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AE3"/>
                </a:solidFill>
              </a:defRPr>
            </a:pPr>
            <a:r>
              <a:rPr sz="1575" b="0">
                <a:solidFill>
                  <a:srgbClr val="B8CAE3"/>
                </a:solidFill>
              </a:rPr>
              <a:t>Use the tools, models, and agent frameworks you already trust—from air-gapped systems to the cloud.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D5471-FAC1-4706-B8D9-85E8A7DD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200150"/>
            <a:ext cx="2857500" cy="4095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C274B"/>
          </a:solidFill>
          <a:ln xmlns:a="http://schemas.openxmlformats.org/drawingml/2006/main" w="9525">
            <a:solidFill>
              <a:srgbClr val="315A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80BC7-2051-40C5-BB44-74CCCFBF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66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ENGINEERING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61AEC-7B1A-4AF9-B47E-05669AAD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190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315A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F29EB-8121-486D-A086-2597289B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2BE3C-3170-47F5-B37D-09023566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190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365F"/>
          </a:solidFill>
          <a:ln xmlns:a="http://schemas.openxmlformats.org/drawingml/2006/main" w="9525">
            <a:solidFill>
              <a:srgbClr val="315A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A9A49-8B99-4BB9-BF41-05925721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Engineering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0E06F-9D8E-42FD-AB84-FF5D3F08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2190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365F"/>
          </a:solidFill>
          <a:ln xmlns:a="http://schemas.openxmlformats.org/drawingml/2006/main" w="9525">
            <a:solidFill>
              <a:srgbClr val="315A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DED57-F714-4B84-94C5-FA5FEC99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Workflows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EA2A0-357C-4195-AA92-2453476A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190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365F"/>
          </a:solidFill>
          <a:ln xmlns:a="http://schemas.openxmlformats.org/drawingml/2006/main" w="9525">
            <a:solidFill>
              <a:srgbClr val="315A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13E97-2C61-4778-861C-6BED87EA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148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Artifacts</a:t>
            </a:r>
          </a:p>
        </p:txBody>
      </p:sp>
    </p:spTree>
    <p:extLst>
      <p:ext uri="{BB962C8B-B14F-4D97-AF65-F5344CB8AC3E}">
        <p14:creationId xmlns:p14="http://schemas.microsoft.com/office/powerpoint/2010/main" val="1196413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66191F-F719-47F3-A0FE-47B2B80D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E7746-E3F3-46D2-810A-63DDDC78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Engineering AI is stuck between chat and tool silos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5BF6A-4DC5-4341-84D1-78FB2125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92F4F-F2C5-4F0E-B3C8-3ED4D8E2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WRIGHT  /  PUBLIC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BC0D1-DD4A-4258-B7AB-633B43EF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2FC3D-1D5D-42D9-9767-A08208E6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Engineering work spans geometry, simulation, manufacturing, electronics, data, lifecycle systems, and licensed vendor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43DAD-C030-4D3F-A7D8-99A98AE0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71"/>
                </a:solidFill>
              </a:defRPr>
            </a:pPr>
            <a:r>
              <a:rPr sz="1575" b="0">
                <a:solidFill>
                  <a:srgbClr val="526071"/>
                </a:solidFill>
              </a:rPr>
              <a:t>A generic assistant may advise—but the engineer still has to cross the entire stack.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6692B-27B8-4426-A082-93C162D9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ONE ENGINEER. MANY SYSTEMS.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7AF5A-0E15-4216-9BB3-A2EA8AC4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The orchestration gap grows with every tool boundary.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6B567-ED1C-47D0-8AFC-5AF6B8D7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0225"/>
            <a:ext cx="9525" cy="22288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393CC-9C93-4BFD-9902-C8DF792D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0225"/>
            <a:ext cx="574357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98E7A-2D62-434E-8796-6234353E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43175"/>
            <a:ext cx="574357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4DC2D-7D15-422C-BA48-3FA6D42D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86125"/>
            <a:ext cx="574357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39166-1046-4A74-8FFC-5C3C10E3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29075"/>
            <a:ext cx="574357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BDA83-2066-49ED-9DAD-31CEA21E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76625"/>
            <a:ext cx="2667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8158A-04A6-478A-94FB-F148E619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0375"/>
            <a:ext cx="10287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071A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7054B-F28C-461E-B270-3B79BE60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90875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F13F2-FE03-4E5C-BC64-5F6BEF11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2400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95863-642F-41D7-B32B-29CAAC5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6002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28870-036B-4B06-9CAC-E7B269B1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52400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748475-DE2A-4EEE-8AF8-80383A71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6002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CAE / FEA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E72D6-BCCD-4CE4-B168-4C1C0841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52400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6008AF-44B8-489E-AD56-3DBC43A8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6002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CFD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DF1D01-8F18-431C-B6DF-7EA720EA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669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777994-480B-4BBE-98A9-F4F9D5EC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3431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7A43FB-C6C3-4957-BCFD-7A2F34AB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669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8C6BF7-E597-4D12-83DA-3856D44F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431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EDA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6A7F78-5DF4-48FF-9E8C-3491CC63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669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3910BE-B85D-43B6-8A51-517F5877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431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PLM / PDM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A2FF9F-200A-4B1A-87B8-DD068534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0990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8BFEC6-6829-43AF-96A8-4FA42B51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861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Project mgmt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E855C3-1F90-4EC0-8263-310BAC5D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0990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0EC9DD-2563-4587-B025-F9A59E8B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861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Requirements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4C0DF8-D101-48C0-8BC0-DD9DE8E3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00990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DD3A89-5EEE-4546-A752-82266EEA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861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Vibe coding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F60C96-F0CE-4525-B5EB-03293B5B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528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C9E1D5-D78E-4FC4-9D73-38269086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8290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Files +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64DC4D-7D63-4D84-BC2E-62627BC5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7528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EB36A1-E844-43A8-A29E-125F06F2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8290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Test / DAQ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D490CF-30F2-462D-874F-C835DC5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528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32AA67-FBB8-4703-A1FC-3AF88E37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290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Vendor tools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B7FAB0-88D0-4EDD-ACE5-114D2404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95825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1"/>
                </a:solidFill>
              </a:defRPr>
            </a:pPr>
            <a:r>
              <a:rPr sz="1125" b="0">
                <a:solidFill>
                  <a:srgbClr val="526071"/>
                </a:solidFill>
              </a:rPr>
              <a:t>Representative categories—not an exhaustive list</a:t>
            </a:r>
          </a:p>
        </p:txBody>
      </p:sp>
    </p:spTree>
    <p:extLst>
      <p:ext uri="{BB962C8B-B14F-4D97-AF65-F5344CB8AC3E}">
        <p14:creationId xmlns:p14="http://schemas.microsoft.com/office/powerpoint/2010/main" val="2092293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FEABF2-2DC8-4FAD-BDD2-765A3E64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E0AE3-E6E2-4B73-AF7A-3917B15F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Wright bridges generative AI and deterministic engineering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73458-C38D-455B-A48B-BB5744E4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FDB84-3698-4F05-9C1B-1FF430C1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WRIGHT  /  PUBLIC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66068-7A02-4BD1-81C0-BEDD0FBF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93682-89E8-432A-8F65-43A68A42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43250"/>
            <a:ext cx="5524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0DA57-E3FB-48EE-8670-CC077699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EC6A6-1647-4B72-949B-4E9CF0D8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2571750" cy="3238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C32EA-75F9-4D21-83DE-16840228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NON-DETERMINISTIC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AB712-B9BE-4626-BA15-19226822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Model compute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41F12-03EE-4AD8-82A1-D491A6C7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8FB12-7ADB-4748-9D2D-F4ECF253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Private models</a:t>
            </a:r>
          </a:p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Sovereign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146D5-3BB2-4FBD-A020-C8F1D3A1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EXTERNAL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1F822-B069-4B88-BB05-43E70B26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019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Trusted LLM vendor</a:t>
            </a:r>
          </a:p>
          <a:p xmlns:a="http://schemas.openxmlformats.org/drawingml/2006/main">
            <a:pPr algn="ctr"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Operator-approved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2EEAC-B9DB-44CC-8B9B-16C8FDA0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52550"/>
            <a:ext cx="4762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071A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F9F6C-E30D-4388-8F40-ED368A67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811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WRIGHT CONTROL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70CB6-2FB9-4B11-A38A-793D917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716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MCP  /  WebMCP  /  CLI  / 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C2795-591C-4413-A003-90EB9998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190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E54"/>
          </a:solidFill>
          <a:ln xmlns:a="http://schemas.openxmlformats.org/drawingml/2006/main" w="9525">
            <a:solidFill>
              <a:srgbClr val="315A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05D65-EFD0-4A64-B4F9-EC9213F6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98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DISCOVER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4A97D2-38C7-49B7-8F28-BF44FD3A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48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Tool inventory + schemas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02B6C-9D8C-4CDA-8AFF-AFD7B16E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90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E54"/>
          </a:solidFill>
          <a:ln xmlns:a="http://schemas.openxmlformats.org/drawingml/2006/main" w="9525">
            <a:solidFill>
              <a:srgbClr val="315A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EA37A-2DA1-45DC-80D4-D55BC7B9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98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SECURE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90A341-BFFE-4E30-BDB9-FEDC59FB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8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Egress + credential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193B35-121E-4B9F-9132-C4D2CA94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76650"/>
            <a:ext cx="190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E54"/>
          </a:solidFill>
          <a:ln xmlns:a="http://schemas.openxmlformats.org/drawingml/2006/main" w="9525">
            <a:solidFill>
              <a:srgbClr val="315A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0E9BB-DE04-40A9-8171-6DF3F2E4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623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EXECUTE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17FC8F-8818-40B1-9497-B3460F85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005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Typed calls + bounded runs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5987F7-8E82-44B6-A260-8EAEACE9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190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E54"/>
          </a:solidFill>
          <a:ln xmlns:a="http://schemas.openxmlformats.org/drawingml/2006/main" w="9525">
            <a:solidFill>
              <a:srgbClr val="315A8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0B7BE3-3619-4713-823E-0B16FDF2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623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TRACE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994693-D779-41C1-88E3-A2D3178D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Logs + audit trail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669E72-71C7-4D97-81AA-5A9EA26C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00200"/>
            <a:ext cx="2552700" cy="32385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2D9E5A-BDD0-48E3-947C-00223676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DETERMINISTIC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7A67F7-A1DD-494B-9251-AC4C5D5A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574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Engineering tools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59CC06-27A5-454C-BC90-C1736791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194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071"/>
                </a:solidFill>
              </a:defRPr>
            </a:pPr>
            <a:r>
              <a:rPr sz="1425" b="0">
                <a:solidFill>
                  <a:srgbClr val="526071"/>
                </a:solidFill>
              </a:rPr>
              <a:t>CAD / CAE</a:t>
            </a:r>
          </a:p>
          <a:p xmlns:a="http://schemas.openxmlformats.org/drawingml/2006/main">
            <a:pPr algn="ctr">
              <a:defRPr sz="1425" b="0">
                <a:solidFill>
                  <a:srgbClr val="526071"/>
                </a:solidFill>
              </a:defRPr>
            </a:pPr>
            <a:r>
              <a:rPr sz="1425" b="0">
                <a:solidFill>
                  <a:srgbClr val="526071"/>
                </a:solidFill>
              </a:rPr>
              <a:t>CAM / EDA</a:t>
            </a:r>
          </a:p>
          <a:p xmlns:a="http://schemas.openxmlformats.org/drawingml/2006/main">
            <a:pPr algn="ctr">
              <a:defRPr sz="1425" b="0">
                <a:solidFill>
                  <a:srgbClr val="526071"/>
                </a:solidFill>
              </a:defRPr>
            </a:pPr>
            <a:r>
              <a:rPr sz="1425" b="0">
                <a:solidFill>
                  <a:srgbClr val="526071"/>
                </a:solidFill>
              </a:rPr>
              <a:t>Test + simulation</a:t>
            </a:r>
          </a:p>
          <a:p xmlns:a="http://schemas.openxmlformats.org/drawingml/2006/main">
            <a:pPr algn="ctr">
              <a:defRPr sz="1425" b="0">
                <a:solidFill>
                  <a:srgbClr val="526071"/>
                </a:solidFill>
              </a:defRPr>
            </a:pPr>
            <a:r>
              <a:rPr sz="1425" b="0">
                <a:solidFill>
                  <a:srgbClr val="526071"/>
                </a:solidFill>
              </a:rPr>
              <a:t>Files + automation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B8DDC0-53A5-4608-B1F9-517B1EAC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006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A33"/>
                </a:solidFill>
              </a:defRPr>
            </a:pPr>
            <a:r>
              <a:rPr sz="1725" b="1">
                <a:solidFill>
                  <a:srgbClr val="071A33"/>
                </a:solidFill>
              </a:rPr>
              <a:t>Use the model you trust—local, sovereign, or external—without surrendering execution control.</a:t>
            </a:r>
          </a:p>
        </p:txBody>
      </p:sp>
    </p:spTree>
    <p:extLst>
      <p:ext uri="{BB962C8B-B14F-4D97-AF65-F5344CB8AC3E}">
        <p14:creationId xmlns:p14="http://schemas.microsoft.com/office/powerpoint/2010/main" val="21145207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2B3777-35D5-4692-8C8C-BE6A88A5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F3741-D5BB-4036-8BC5-5561A0FF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One open control plane connects agents to engineering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FB387-E435-4E4F-96E3-C7C2DA2B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F282B-7CEA-441E-B795-10A03A2F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WRIGHT  /  PUBLIC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1E6F0-ACE6-4027-9223-4EEC3866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035D7-F53A-4365-8BC8-DFFD79B6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19300"/>
            <a:ext cx="1809750" cy="11239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FF92A-D21B-413D-8D32-8571F319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286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59D75-5BB4-4136-9C03-CA5DCB70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Agent frameworks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32C4C-50B5-459B-A711-5E920ACC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Hermes • OpenClaw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BCAE7-E482-45B5-ABEF-66F28ACB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809750" cy="11620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171E1-4167-4B41-A5DC-1BB5B77D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286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627A4-504D-41A0-B63F-59FA22F1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Desktop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E3B85-78F7-452E-B0BC-C58B5B4E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ChatGPT • Anthropic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04414-3222-4940-A013-54CDACBA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19300"/>
            <a:ext cx="1524000" cy="11239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31E8A-BDEA-4A26-BC77-24DA7513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286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73670-3F59-459D-9060-35E38766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14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Integration standards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E64FF-82EE-4630-8030-1A5AF907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383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MCP • WebMCP • CLI •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5400D-D3A2-412F-B5F6-76EDCB36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524000" cy="11620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C94E2-C24E-414B-ACFE-ED1E3CD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05250"/>
            <a:ext cx="2286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EDC61-9DC7-4264-8696-AB4BCBFD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Engineering applications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05C3B-2627-4C9F-8E21-30FE2F35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243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CAD • EDA • code • projects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70E65C-4E47-408F-A1E0-7CCE9C5A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071A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886A7-6A8C-4F32-BB3A-18D6EAF3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765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WRIGHT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073B5D-54C9-49FB-91BD-F2C45C4D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Open orchestration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04451-7EDD-4064-86E6-5B2B94B1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81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8ED"/>
                </a:solidFill>
              </a:defRPr>
            </a:pPr>
            <a:r>
              <a:rPr sz="1125" b="0">
                <a:solidFill>
                  <a:srgbClr val="C8D8ED"/>
                </a:solidFill>
              </a:rPr>
              <a:t>workflows • state • artifacts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A2E15-8EBB-452F-BFDB-1087F74A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97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Use the architecture you prefer without rebuilding access to every engineering tool.</a:t>
            </a:r>
          </a:p>
        </p:txBody>
      </p:sp>
    </p:spTree>
    <p:extLst>
      <p:ext uri="{BB962C8B-B14F-4D97-AF65-F5344CB8AC3E}">
        <p14:creationId xmlns:p14="http://schemas.microsoft.com/office/powerpoint/2010/main" val="331206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3278B-1DCD-417D-9450-578C3A75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33A43-CE74-49FE-94B6-38A27B20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Engineering software is the center of Wright’s product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0E5CC-94D3-4432-8305-01047F0C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5438B-DCD2-4AAF-842E-B357C03F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WRIGHT  /  PUBLIC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CE1C4-ED97-47D2-8490-1A728160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9F7DF-2441-44D0-B3D7-2C04EDDC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2381250" cy="3238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84D13-1774-4A55-BD9B-2AFD479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MULTI-AGENT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33B03-454D-4AB0-918F-8FFA5DEC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Agent frameworks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9BC13-708F-448C-A221-CDACDC3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071"/>
                </a:solidFill>
              </a:defRPr>
            </a:pPr>
            <a:r>
              <a:rPr sz="1350" b="1">
                <a:solidFill>
                  <a:srgbClr val="526071"/>
                </a:solidFill>
              </a:rPr>
              <a:t>Hermes</a:t>
            </a:r>
          </a:p>
          <a:p xmlns:a="http://schemas.openxmlformats.org/drawingml/2006/main">
            <a:pPr algn="l">
              <a:defRPr sz="1350" b="1">
                <a:solidFill>
                  <a:srgbClr val="526071"/>
                </a:solidFill>
              </a:defRPr>
            </a:pPr>
            <a:r>
              <a:rPr sz="1350" b="1">
                <a:solidFill>
                  <a:srgbClr val="526071"/>
                </a:solidFill>
              </a:rPr>
              <a:t>OpenClaw</a:t>
            </a:r>
          </a:p>
          <a:p xmlns:a="http://schemas.openxmlformats.org/drawingml/2006/main">
            <a:pPr algn="l">
              <a:defRPr sz="1350" b="1">
                <a:solidFill>
                  <a:srgbClr val="526071"/>
                </a:solidFill>
              </a:defRPr>
            </a:pPr>
            <a:r>
              <a:rPr sz="1350" b="1">
                <a:solidFill>
                  <a:srgbClr val="526071"/>
                </a:solidFill>
              </a:rPr>
              <a:t>ChatGPT Desktop</a:t>
            </a:r>
          </a:p>
          <a:p xmlns:a="http://schemas.openxmlformats.org/drawingml/2006/main">
            <a:pPr algn="l">
              <a:defRPr sz="1350" b="1">
                <a:solidFill>
                  <a:srgbClr val="526071"/>
                </a:solidFill>
              </a:defRPr>
            </a:pPr>
            <a:r>
              <a:rPr sz="1350" b="1">
                <a:solidFill>
                  <a:srgbClr val="526071"/>
                </a:solidFill>
              </a:rPr>
              <a:t>Anthropic Desktop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34594-7750-4391-89B2-2DF97DE6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One governed engineering tool surface.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91497-2B67-49F9-883C-C09F677D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352550"/>
            <a:ext cx="537210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071A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62D16-D280-4093-834D-59ECA812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002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THIS IS WHERE YOUR SOFTWARE LIVES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0A3CD-BAF7-4A23-9BF1-83C3ACB1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Engineering software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C5D5A-0A2E-4F58-9F44-B3631A4E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CAD  •  CAE  •  CAM  •  EDA  •  PLM / PDM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21858-4804-49DE-9E13-3F7AE5A3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143250"/>
            <a:ext cx="4324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5E4F6"/>
                </a:solidFill>
              </a:defRPr>
            </a:pPr>
            <a:r>
              <a:rPr sz="1425" b="0">
                <a:solidFill>
                  <a:srgbClr val="D5E4F6"/>
                </a:solidFill>
              </a:rPr>
              <a:t>Vendor applications become agent-operable through validated MCP, WebMCP, CLI, API, and managed-adapter integrations.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4911E-39E2-4A9F-9BF2-C4F5B454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E54"/>
          </a:solidFill>
          <a:ln xmlns:a="http://schemas.openxmlformats.org/drawingml/2006/main" w="9525">
            <a:solidFill>
              <a:srgbClr val="315A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A7889-4FD7-4A86-8048-6355D3EE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6720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Governed access  •  deterministic execution  •  reviewable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C6274-C77B-4810-B8A7-B7F7C9A5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381250" cy="3238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B66A1-38C8-4E22-83B3-8AE5DD9F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669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WORKSPACE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3DD8A-CECE-47DD-B465-3D973FA6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Files +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FD336-32B9-477B-A245-E6FD9680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924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Preserve artifacts, logs, configuration, and runtime state locally.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92B71-6EFC-4ADA-A4EB-36561A9C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A33"/>
                </a:solidFill>
              </a:defRPr>
            </a:pPr>
            <a:r>
              <a:rPr sz="1725" b="1">
                <a:solidFill>
                  <a:srgbClr val="071A33"/>
                </a:solidFill>
              </a:rPr>
              <a:t>Wright does not replace engineering products—it gives agents controlled access to them.</a:t>
            </a:r>
          </a:p>
        </p:txBody>
      </p:sp>
    </p:spTree>
    <p:extLst>
      <p:ext uri="{BB962C8B-B14F-4D97-AF65-F5344CB8AC3E}">
        <p14:creationId xmlns:p14="http://schemas.microsoft.com/office/powerpoint/2010/main" val="930601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10EF18-C74C-4DE4-B920-BA354ECB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3DE8B-22A1-44B5-8BC0-FCFD3621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Engineering vibe coding becomes a real execution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8CA14-161A-40F6-A7FA-81A1764B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A76E5-4FBD-434F-B741-DB711CD0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WRIGHT  /  PUBLIC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B65DF-7911-4FD2-BFAD-DF5F5631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CF491-E6ED-4678-9AE9-36920A19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3810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3D114-662F-4F9A-9887-CADEE2A2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67046-AAFA-4A13-A35F-10C592A8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DDD8D-4F75-42AA-8780-DAE49A63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3810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C2196-1E88-4575-B9BA-B539E997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C436D-DDCD-4D1C-93DC-25EC645C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Generate 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ECED0-5150-418C-BA50-DA1AB03F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14600"/>
            <a:ext cx="3810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392E5-FD6D-476E-9396-9AC52012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17A75-6E1A-4F5A-90BC-51CB861E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669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Run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34B73-6DB6-414C-A625-A6A350F0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3810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79DCD-6D6E-46ED-BD48-604A0C68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20E75-8E7B-4B75-AFAA-70FD6F3B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Inspect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C47B0-69D1-4DDC-A531-33E7DF98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95500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F22BC-5C94-4C4D-9390-78F4A717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760AB-C7F0-4A76-B801-1E8FDE01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385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A33"/>
                </a:solidFill>
              </a:defRPr>
            </a:pPr>
            <a:r>
              <a:rPr sz="2250" b="1">
                <a:solidFill>
                  <a:srgbClr val="071A33"/>
                </a:solidFill>
              </a:rPr>
              <a:t>Nearly any scripting language can become the glue between engineering applications.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08962-5A98-49A5-89CC-BD6585C2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F0563-F3EC-4303-AA50-F55A6C44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Python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A7A8F1-C7CC-4B98-85CC-6680EE15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799B1-A071-4607-9EC8-AB5D27B8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291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JavaScript / TypeScript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4DC1C-ACFC-478E-AE43-D136163B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48EBDA-0A8E-4263-9AB0-56DABEAD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Shell + PowerShell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FE7EF-95E7-41DE-96B0-9D2C86A1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67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FD935F-2620-450D-9594-4DFE9508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62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Application-native scripting</a:t>
            </a:r>
          </a:p>
        </p:txBody>
      </p:sp>
    </p:spTree>
    <p:extLst>
      <p:ext uri="{BB962C8B-B14F-4D97-AF65-F5344CB8AC3E}">
        <p14:creationId xmlns:p14="http://schemas.microsoft.com/office/powerpoint/2010/main" val="189296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52D6D-25A9-4AD8-9225-4C169A6F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076A4-3003-4328-8650-6616B9CB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Deploy from an air-gapped workstation to a connected cloud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E9175-EDB2-4983-839D-7830A936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438FE-D76E-40D1-AFEC-472C54AC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WRIGHT  /  PUBLIC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07ED5-18F5-4A56-B523-631FF455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5EA76-B52A-4564-8737-7A4694E4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071A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2CBB8-35E7-4EC5-A1EF-2C3F7C76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AIR-GAPPED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E90D5-2251-4B5B-BB7A-E0448469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Local NVIDIA GB10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FB38A-47EB-4FF5-A3A4-71E97F4A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876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8ED"/>
                </a:solidFill>
              </a:defRPr>
            </a:pPr>
            <a:r>
              <a:rPr sz="1350" b="0">
                <a:solidFill>
                  <a:srgbClr val="C8D8ED"/>
                </a:solidFill>
              </a:rPr>
              <a:t>Models, tools, files, and credentials stay inside the controlled environment.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B9057-19E6-49F6-8CA1-7E75E4AD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1939A-E89F-4B51-9845-EE241378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716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HYBRID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F01EC-4D00-47F2-9A22-13A9BB4C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Local tools + trusted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51DF2-C158-4153-B853-464B995E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86100"/>
            <a:ext cx="2876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Keep licensed engineering software local while using an approved external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F1660-5A6E-4046-8EC9-EBC999DF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E4888-B8A4-4F66-A969-82D50509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716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CONNECTED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76A0B-A77F-4F86-A7D3-1A3A04DC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Cloud or server deployment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7FBC0-B2A0-4CB6-B6AD-3B2E2742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86100"/>
            <a:ext cx="2876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Scale access across teams and integrate internet-connected services.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E5F78-79C3-4715-9E96-52AFCAC8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A33"/>
                </a:solidFill>
              </a:defRPr>
            </a:pPr>
            <a:r>
              <a:rPr sz="1575" b="1">
                <a:solidFill>
                  <a:srgbClr val="071A33"/>
                </a:solidFill>
              </a:rPr>
              <a:t>Sovereign AI  •  trusted-vendor choice  •  egress controls  •  credential isolation  •  audit trails</a:t>
            </a:r>
          </a:p>
        </p:txBody>
      </p:sp>
    </p:spTree>
    <p:extLst>
      <p:ext uri="{BB962C8B-B14F-4D97-AF65-F5344CB8AC3E}">
        <p14:creationId xmlns:p14="http://schemas.microsoft.com/office/powerpoint/2010/main" val="33879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ACB54A-F0E2-484F-8F18-F1BA9991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CA513-697D-407F-8EDE-053EADC7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Use the applications already running the engineering organization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283B2-384E-44ED-A022-20DA33C2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B846B-CF73-4BF1-9441-52FDED6D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WRIGHT  /  PUBLIC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2C48B-07E9-4927-8A03-503CFD64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FAA3E-DF30-4225-941F-EA82D591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EE7F5-2FE2-4CD5-8E1A-6A362A50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CAD + geometry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0E1C2-CEB8-4F9D-BFF1-D2A41B4C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2C209-503A-45AD-915F-8EF59F26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287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EA1DB-8F6E-4C08-921E-6918AEE9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00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CAE + simulation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7E91F-36B8-4BAF-822A-95631C4C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97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511DA-DDD2-4B2C-A811-256E3937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E6F4C-8B13-468E-B8AF-624EDF40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00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CAM + manufacturing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AA365-40DB-4699-86BE-B5302403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97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0CDC0-F664-4F83-9FDA-8CF9BAAE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287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A7AAD-48E5-4327-863C-3338AE01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00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EDA + electronics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46FC7-953C-4334-8E38-4C3B743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97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HARDWARE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707F2-65BF-4243-9641-6AB9E4F5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1ED9A5-2162-4C69-901A-1261D793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Vibe coding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E743F-009A-408C-8F08-4AD58500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AUTOMATION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78AA4-7D8C-4D96-A1FD-E674B8D6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9875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CAF04B-3367-4AC4-AAB4-6344093F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81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Project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704354-7847-4F1A-B5CD-104C9BFC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90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COORDINATION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E44E9-DA02-49AC-9504-8D97404A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9875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62CB4-4D89-4086-B550-FCBD02AC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81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PLM +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55D289-E062-44DD-8CB6-D3F974CB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LIFECYCLE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B56255-13C2-4E57-B4AB-FFD4FD47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9875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8149F7-FD26-40CB-A570-99334FDB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81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Browser + vendor tools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D5F8CC-A482-48E3-9783-284F2D00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90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SPECIALIZED 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2AF8B3-8083-4464-94D5-57386CCB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MCP  •  WebMCP  •  CLI  •  API  •  managed adapters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83D05D-14F4-4F03-A266-60F5100D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A33"/>
                </a:solidFill>
              </a:defRPr>
            </a:pPr>
            <a:r>
              <a:rPr sz="2025" b="1">
                <a:solidFill>
                  <a:srgbClr val="071A33"/>
                </a:solidFill>
              </a:rPr>
              <a:t>Wright orchestrates the toolchain—it does not ask engineers to abandon it.</a:t>
            </a:r>
          </a:p>
        </p:txBody>
      </p:sp>
    </p:spTree>
    <p:extLst>
      <p:ext uri="{BB962C8B-B14F-4D97-AF65-F5344CB8AC3E}">
        <p14:creationId xmlns:p14="http://schemas.microsoft.com/office/powerpoint/2010/main" val="10727693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BB902D-B1D4-408A-822A-930D5BC3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EBD2E-49FA-4BD9-9CD9-CF1BA50B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Agentic workflows remember the work—not just the final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463BF-CCCE-4144-8C23-215C3AC8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820C6-07C0-4BD6-8733-8D01CDAD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WRIGHT  /  PUBLIC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B0446-F803-4CFA-9132-64D8007B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49E0E-7F03-4722-A62C-E0108567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4000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44098-3562-44D8-A9B4-ECA65F28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D23E0-3CF4-491B-B55D-48F50D32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F399F-8EF4-4FCB-B8F1-C3884EAF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C1A29-5CCD-4F00-9CD5-1B98C245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Bracket load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9505B-ECAA-484B-8D27-6A801762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4000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C2AD7-6F4C-4BA0-B699-F0EDB211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352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8343F-1BAE-48E1-8A43-4B4FA77F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B18EA-5527-4076-B5E1-6B0EF7C5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Generate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F895A-CF99-4514-9522-B483F3F7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05075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Parametric script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77EE8-206E-4638-B79F-E21DC196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000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353FD-4502-43A4-9F60-379B230C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352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E1895-1B9D-45B7-92DB-31053020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097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C6188-DD58-4AF9-BDCF-081924E2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0250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Create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EAA43-0233-4C93-B8D5-3DBC6000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05075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STEP / STL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DCE8C-1A22-4DE0-B715-FF70C2D9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4000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218B1-A7E4-4A30-9F58-982F3D38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52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62F54-5A38-4503-941C-D4F452A0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8C6411-366B-493F-9872-26B88960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0250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Validate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41D94A-7E0B-4720-8661-91436819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Stress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27273-82D2-461A-8298-A8AF083F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352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EFC28E-718B-4047-91A1-44CD3633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097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071A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1D1BC-1D79-49F4-9370-E7C22049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204E56-9567-471A-B37E-0DEF566D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05075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8D8ED"/>
                </a:solidFill>
              </a:defRPr>
            </a:pPr>
            <a:r>
              <a:rPr sz="1275" b="0">
                <a:solidFill>
                  <a:srgbClr val="C8D8ED"/>
                </a:solidFill>
              </a:rPr>
              <a:t>Engineer decides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2A25C9-E239-4D47-9121-1AEC935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CONTINUOUS WORKFLOW RECORD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BFB8F4-E774-4F92-B491-9979B858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1938E3-0E7D-407F-AA0C-34D5C209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STATUS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64A45A-1C2C-4F3C-9EF2-5C15E31E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071"/>
                </a:solidFill>
              </a:defRPr>
            </a:pPr>
            <a:r>
              <a:rPr sz="1200" b="1">
                <a:solidFill>
                  <a:srgbClr val="526071"/>
                </a:solidFill>
              </a:rPr>
              <a:t>What is running, complete, or waiting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9D54BC-070F-46DC-8180-3BA00980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433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ADF844-EEC2-46FB-B287-4BA117E9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053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CLARITY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92F10B-020D-42B7-A5EC-292B824B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910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071"/>
                </a:solidFill>
              </a:defRPr>
            </a:pPr>
            <a:r>
              <a:rPr sz="1200" b="1">
                <a:solidFill>
                  <a:srgbClr val="526071"/>
                </a:solidFill>
              </a:rPr>
              <a:t>Questions that require engineering judgment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E70179-C3A8-459C-8A50-9FCBB2DE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433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4ACAAB-470A-4CEB-ACE4-25D8CCF2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BLOCKERS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D0B369-785F-4DF0-9D9F-50F05114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910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071"/>
                </a:solidFill>
              </a:defRPr>
            </a:pPr>
            <a:r>
              <a:rPr sz="1200" b="1">
                <a:solidFill>
                  <a:srgbClr val="526071"/>
                </a:solidFill>
              </a:rPr>
              <a:t>Missing inputs, failed tools, or policy constraints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8EB791-8AF0-403B-8F2B-1134032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433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39332B-BDC3-4318-9C46-B510C459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053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EVIDENCE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317B18-3406-457E-98FB-0C5D277C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910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071"/>
                </a:solidFill>
              </a:defRPr>
            </a:pPr>
            <a:r>
              <a:rPr sz="1200" b="1">
                <a:solidFill>
                  <a:srgbClr val="526071"/>
                </a:solidFill>
              </a:rPr>
              <a:t>Files, logs, artifacts, and decisions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9B532A-0294-4B12-B3DB-86049EBF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149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33"/>
                </a:solidFill>
              </a:defRPr>
            </a:pPr>
            <a:r>
              <a:rPr sz="1650" b="1">
                <a:solidFill>
                  <a:srgbClr val="071A33"/>
                </a:solidFill>
              </a:rPr>
              <a:t>Engineers stay informed and in control throughout the workflow.</a:t>
            </a:r>
          </a:p>
        </p:txBody>
      </p:sp>
    </p:spTree>
    <p:extLst>
      <p:ext uri="{BB962C8B-B14F-4D97-AF65-F5344CB8AC3E}">
        <p14:creationId xmlns:p14="http://schemas.microsoft.com/office/powerpoint/2010/main" val="17897286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FA4DE5-78FD-4545-B44D-FBBA51EE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6FFB8-2630-4990-AB48-C427EDA6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Wright removes the lock-in at every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66EF0-6995-43BE-893A-7CE750B7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94BE4-D670-44A2-8C41-81055C2F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WRIGHT  /  PUBLIC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08F74-977B-4C65-8C9C-75DC1664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2D8D1-8643-422B-AF29-9DC4BBA5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38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071"/>
                </a:solidFill>
              </a:defRPr>
            </a:pPr>
            <a:r>
              <a:rPr sz="1275" b="1">
                <a:solidFill>
                  <a:srgbClr val="526071"/>
                </a:solidFill>
              </a:rPr>
              <a:t>Generic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ACEBF-865E-4E6C-A513-4D10CAD0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382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071"/>
                </a:solidFill>
              </a:defRPr>
            </a:pPr>
            <a:r>
              <a:rPr sz="1275" b="1">
                <a:solidFill>
                  <a:srgbClr val="526071"/>
                </a:solidFill>
              </a:rPr>
              <a:t>Point 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E5839-DAB4-4ADB-B94D-0526B2E8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38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WRIGHT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D9101-90CF-4F4B-9C74-ADDA689C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Multiple agent frameworks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A87EA-4CFB-4E5A-930D-0D624B13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B6C3D-9C82-4A67-9A3B-C71E5417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57C0C-43A3-4325-A18B-AB54245F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Limited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066B8-9E3E-4118-B26C-74E94C96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526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Yes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0BCC5-6B91-4B6E-8584-20A7E540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MCP + WebMCP + CLI +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B7D73-E9C8-4079-9F5F-08E72A57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8D145-8D51-4974-87DF-1C095690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907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Limited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40AA8E-5A7E-4717-908C-6A1ED547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907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Limited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AB395-95FB-4DEC-9382-88C02AE1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907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Yes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0429A-7EB4-43A8-A6E3-96A57135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Air-gapped through cloud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D8B0F-9B39-4426-98C1-D1958F4C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1ED14-4FF5-498A-881E-558BB27D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6A61A-49A6-48FE-85C3-195DF5EA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289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Limited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B8DFE-EB01-47F3-98FA-5E582287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289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Yes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18571-6ED4-4060-BF4F-B9960EB3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Broad engineering application focus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AC0C38-8233-430A-90F9-5FA0323A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E2ED43-DCB0-43AA-AC28-AC321811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No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933441-EDBC-4DCA-8223-9992CD38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Point tool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EB3588-0EB3-4F40-8F06-423A454A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671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Yes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9C1872-3080-4056-B58F-35554017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Open source + vendor bundling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E210F3-1CB5-41C4-A6A5-5AD648EB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13DAB3-BE52-44DD-952C-F0E92241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05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No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7D0492-9707-4E8F-B6D6-D7FA55E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05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No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8D9CA0-25E4-4ADE-98CB-665A401C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05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Yes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36E4D0-2617-47B8-B8F3-3161AAB4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Durable workflow record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9A6AEA-03D5-4CCF-B197-CE1736E3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B3D971-34D6-455B-9CCD-CCEE2132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434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Limited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587789-31E5-409F-864A-90078245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434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Limited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9768A6-401E-4A75-B087-972EB6BA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434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6757230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F74AB-2DCB-43A5-99D1-58C8AB22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B4578-F9AF-4974-8471-AD991D79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Free and open source means Wright can become your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4EE9A-4832-48DC-A160-E92FAD11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F0EF9-581B-47B1-9F0C-4B5A0E9B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WRIGHT  /  PUBLIC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4F1A2-A645-41D4-A1BC-0A9DA4D3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E88C9-D430-42EB-8D11-10DD186F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071A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E097B-8F93-4D1D-8913-CF25C3FD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VENDORS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4663B-E388-424D-A5F8-D57B852F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05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Bundle Wright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B6FBF-1A66-4A52-8E7A-73212C61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95625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8D8ED"/>
                </a:solidFill>
              </a:defRPr>
            </a:pPr>
            <a:r>
              <a:rPr sz="1425" b="0">
                <a:solidFill>
                  <a:srgbClr val="C8D8ED"/>
                </a:solidFill>
              </a:rPr>
              <a:t>Ship agentic access with your own engineering application and integrations.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13BD0-21BF-4E65-BF75-4149B45B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71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D4820-7CC8-4211-BAA3-2FD4591E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CUSTOMERS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1A44A-32F8-4596-A96F-0074DBC8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05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Customize Wright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B18E9-4AE4-4C74-A4D7-5975BEFB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95625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71"/>
                </a:solidFill>
              </a:defRPr>
            </a:pPr>
            <a:r>
              <a:rPr sz="1425" b="0">
                <a:solidFill>
                  <a:srgbClr val="526071"/>
                </a:solidFill>
              </a:rPr>
              <a:t>Connect proprietary systems, policies, workflows, and internal tooling.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97483-8576-4CAC-85D3-A2F25ABD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71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EE1A7-C47E-4CD5-AC45-6C7475BB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COMMUNITY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F1A2C-D08B-4322-86EB-07C4BA4B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05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Extend Wright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707ED-2BA2-4F71-A30C-8A2B8167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95625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71"/>
                </a:solidFill>
              </a:defRPr>
            </a:pPr>
            <a:r>
              <a:rPr sz="1425" b="0">
                <a:solidFill>
                  <a:srgbClr val="526071"/>
                </a:solidFill>
              </a:rPr>
              <a:t>Add MCPs, adapters, viewers, agent runtimes, and deployment patterns.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FA5C0-AC2C-479A-ADBD-E7FFA9E4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A33"/>
                </a:solidFill>
              </a:defRPr>
            </a:pPr>
            <a:r>
              <a:rPr sz="1800" b="1">
                <a:solidFill>
                  <a:srgbClr val="071A33"/>
                </a:solidFill>
              </a:rPr>
              <a:t>No proprietary orchestration layer between you and your engineering systems.</a:t>
            </a:r>
          </a:p>
        </p:txBody>
      </p:sp>
    </p:spTree>
    <p:extLst>
      <p:ext uri="{BB962C8B-B14F-4D97-AF65-F5344CB8AC3E}">
        <p14:creationId xmlns:p14="http://schemas.microsoft.com/office/powerpoint/2010/main" val="8340961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14107-FF1F-434F-8B33-6372ABED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1B28E-F5BA-45A1-BE93-8A3889CA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Wright is built to move at the speed of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3CE8D-2F95-463D-9080-58D6CD08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BACD7-E4FB-4B05-8379-1CEC70D2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WRIGHT  /  PUBLIC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EE145-80AB-4C0E-8457-F8550630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87766-DAAB-4350-94B6-98610685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071"/>
                </a:solidFill>
              </a:defRPr>
            </a:pPr>
            <a:r>
              <a:rPr sz="1350" b="1">
                <a:solidFill>
                  <a:srgbClr val="526071"/>
                </a:solidFill>
              </a:rPr>
              <a:t>Traditional engineering release cycles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89B0D-4D52-4F5E-AD61-F1C0CC3B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476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9DC5A-2906-4328-9D20-31C69A01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6–12 month integration wait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FA93E-C046-48D7-A5AF-6F4B22BC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AI capabilities and agent standards can change before the next major software release.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E336A-EEA3-4CDB-9E3A-5E2A96B5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2382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B7D46-A4E8-4DCF-B212-511E05FB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1125"/>
            <a:ext cx="4572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071A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4D691-C112-41F8-A85B-54E3CDE4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WRIGHT UPDATE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2E017-6BE6-4DDF-B5B0-62D528B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F796D-9E1B-4394-B971-3EC87BAF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MCPs and adapters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7A143-6D23-4734-9D02-BA974493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CB2D4-178C-4C2C-976C-9C263928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670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Agent-framework compatibility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38261-0853-4415-81C3-5CE2F18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78EDF-7C85-4B87-94EA-914D90B7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623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Security and deployment improvements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35391-A4B2-4010-81A0-1413627B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4B9C5-ABEF-4178-8670-82A918B6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57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Workflow and artifact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3D8C2-B3D7-4AA2-BDC2-4FCB3260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</a:defRPr>
            </a:pPr>
            <a:r>
              <a:rPr sz="1875" b="1">
                <a:solidFill>
                  <a:srgbClr val="071A33"/>
                </a:solidFill>
              </a:rPr>
              <a:t>Frequent, incremental updates keep the engineering toolchain current as AI advances.</a:t>
            </a:r>
          </a:p>
        </p:txBody>
      </p:sp>
    </p:spTree>
    <p:extLst>
      <p:ext uri="{BB962C8B-B14F-4D97-AF65-F5344CB8AC3E}">
        <p14:creationId xmlns:p14="http://schemas.microsoft.com/office/powerpoint/2010/main" val="18948453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554AD-2268-4769-871E-B034F820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4815E-784A-41C8-A68B-0AF5853F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The value proposition is choice without fragmentation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0514B-D987-46BF-8061-A100A900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2E797-F5CD-4AFA-B072-6B335EAA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WRIGHT  /  PUBLIC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3FCE3-640A-4E91-AE6D-E58DA770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</a:defRPr>
            </a:pPr>
            <a:r>
              <a:rPr sz="900" b="1">
                <a:solidFill>
                  <a:srgbClr val="526071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74858-52A6-41FB-BA32-7D3D1111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523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D1987-C071-4994-93E6-1DDCB47A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73EC2-E75C-4249-9673-E4C55D83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Use the engineering applications already trusted by the team.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E6A91-8865-4A5A-BBF1-2406636D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76375"/>
            <a:ext cx="523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74413-5DF3-45B1-BA8D-1F6E368A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66875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6E359-3185-46FA-B3EE-BC421727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47875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Choose leading agent architectures without lock-in.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6AC4D-66C3-43E5-B18D-408882C4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523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69A01-5B69-4BA4-B08C-1445112F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DEPLOYMENT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BFDCF-FDF1-4C8A-A738-94DFDA1B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Run local, sovereign, hybrid, or fully connected.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30BD3-2D1E-4027-A978-A71BD0CA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86125"/>
            <a:ext cx="523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071A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A983F-8717-4B81-A3BE-CBFCDDD1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72523-4E66-43CC-9226-D973CBC4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57625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Customize, bundle, and extend an open-source foundation.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7D3AE-EC13-4257-8344-829F50D5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A33"/>
                </a:solidFill>
              </a:defRPr>
            </a:pPr>
            <a:r>
              <a:rPr sz="1800" b="1">
                <a:solidFill>
                  <a:srgbClr val="071A33"/>
                </a:solidFill>
              </a:rPr>
              <a:t>One governed workflow layer keeps status, questions, blockers, evidence, and artifacts connected.</a:t>
            </a:r>
          </a:p>
        </p:txBody>
      </p:sp>
    </p:spTree>
    <p:extLst>
      <p:ext uri="{BB962C8B-B14F-4D97-AF65-F5344CB8AC3E}">
        <p14:creationId xmlns:p14="http://schemas.microsoft.com/office/powerpoint/2010/main" val="8856993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B25DB-5F1A-42E1-8B0B-1F818A19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WRIGHT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3FAF7-C058-41E7-A9A6-06E701CE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28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Make every engineering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application agent-operable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9FC34-4036-4DEF-9FFE-CE9B1A03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D8ED"/>
                </a:solidFill>
              </a:defRPr>
            </a:pPr>
            <a:r>
              <a:rPr sz="1725" b="0">
                <a:solidFill>
                  <a:srgbClr val="C8D8ED"/>
                </a:solidFill>
              </a:rPr>
              <a:t>Open agent software for existing tools, trusted models, preferred frameworks, and durable engineering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73E82-D0B9-4723-8E36-D46D84DD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BE47B-8F5F-44F1-804B-7E888F9E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Adopt Wright for a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59CCB-BC2E-4EB2-AB19-52D0CBEB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B2A68-9A50-470C-B56B-306D9B5F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76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Bundle it with your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8E8AA-2D79-489F-82F1-D34A4CB9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1EE65-632B-4442-BB58-EE8ACA6F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Customize it for internal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6D0AD-2756-4B6C-BFF8-72596182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76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F93A8-81C5-43AA-9D9B-EA1E1793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816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Contribute tools and workflows</a:t>
            </a:r>
          </a:p>
        </p:txBody>
      </p:sp>
    </p:spTree>
    <p:extLst>
      <p:ext uri="{BB962C8B-B14F-4D97-AF65-F5344CB8AC3E}">
        <p14:creationId xmlns:p14="http://schemas.microsoft.com/office/powerpoint/2010/main" val="1875791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2026-08-04T15:58:49.6120000Z</dcterms:created>
  <dcterms:modified xsi:type="dcterms:W3CDTF">2026-08-04T15:58:49.6120000Z</dcterms:modified>
</coreProperties>
</file>