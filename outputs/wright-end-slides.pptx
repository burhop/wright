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477293df554dcc" /><Relationship Type="http://schemas.openxmlformats.org/officeDocument/2006/relationships/extended-properties" Target="/docProps/app.xml" Id="R8e603d4ce4644b70" /><Relationship Type="http://schemas.openxmlformats.org/officeDocument/2006/relationships/officeDocument" Target="/ppt/presentation.xml" Id="R4d278474c93b42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b0550bc8bb431d"/>
  </p:sldMasterIdLst>
  <p:notesMasterIdLst>
    <p:notesMasterId xmlns:r="http://schemas.openxmlformats.org/officeDocument/2006/relationships" r:id="R4713e197dfb040e4"/>
  </p:notesMasterIdLst>
  <p:sldIdLst>
    <p:sldId xmlns:r="http://schemas.openxmlformats.org/officeDocument/2006/relationships" id="256" r:id="R32fbc4221b2d4fe3"/>
    <p:sldId xmlns:r="http://schemas.openxmlformats.org/officeDocument/2006/relationships" id="257" r:id="R8a9c897fd4944967"/>
    <p:sldId xmlns:r="http://schemas.openxmlformats.org/officeDocument/2006/relationships" id="258" r:id="Reb56e850b9e84a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4500ac03b4176" /><Relationship Type="http://schemas.openxmlformats.org/officeDocument/2006/relationships/slideMaster" Target="/ppt/slideMasters/slideMaster1.xml" Id="R41b0550bc8bb431d" /><Relationship Type="http://schemas.openxmlformats.org/officeDocument/2006/relationships/notesMaster" Target="/ppt/notesMasters/notesMaster1.xml" Id="R4713e197dfb040e4" /><Relationship Type="http://schemas.openxmlformats.org/officeDocument/2006/relationships/presProps" Target="/ppt/presProps.xml" Id="Raa2c885be04d4caa" /><Relationship Type="http://schemas.openxmlformats.org/officeDocument/2006/relationships/tableStyles" Target="/ppt/tableStyles.xml" Id="Ra09252a2107d457d" /><Relationship Type="http://schemas.openxmlformats.org/officeDocument/2006/relationships/slide" Target="/ppt/slides/slide1.xml" Id="R32fbc4221b2d4fe3" /><Relationship Type="http://schemas.openxmlformats.org/officeDocument/2006/relationships/slide" Target="/ppt/slides/slide2.xml" Id="R8a9c897fd4944967" /><Relationship Type="http://schemas.openxmlformats.org/officeDocument/2006/relationships/slide" Target="/ppt/slides/slide3.xml" Id="Reb56e850b9e8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539a5cda5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5647f6f29949dd" /><Relationship Type="http://schemas.openxmlformats.org/officeDocument/2006/relationships/notesMaster" Target="/ppt/notesMasters/notesMaster1.xml" Id="Ra1abeb84065740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7588ab905840a3" /><Relationship Type="http://schemas.openxmlformats.org/officeDocument/2006/relationships/notesMaster" Target="/ppt/notesMasters/notesMaster1.xml" Id="R332bbeb9baf34a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7376314b7c418b" /><Relationship Type="http://schemas.openxmlformats.org/officeDocument/2006/relationships/notesMaster" Target="/ppt/notesMasters/notesMaster1.xml" Id="R9bbcfeea54ef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b8e197dde44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9fa77ee3d440f3" /><Relationship Type="http://schemas.openxmlformats.org/officeDocument/2006/relationships/slideLayout" Target="/ppt/slideLayouts/slideLayout1.xml" Id="R93cea1108ed149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cea1108ed149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4a5dc2864da6" /><Relationship Type="http://schemas.openxmlformats.org/officeDocument/2006/relationships/image" Target="/ppt/media/image.jpeg" Id="R219e8037d3e64d17" /><Relationship Type="http://schemas.openxmlformats.org/officeDocument/2006/relationships/notesSlide" Target="/ppt/notesSlides/notesSlide1.xml" Id="R4ec5c2f2558f4c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7a3548abf41e2" /><Relationship Type="http://schemas.openxmlformats.org/officeDocument/2006/relationships/image" Target="/ppt/media/image2.jpeg" Id="R5499beaaee654702" /><Relationship Type="http://schemas.openxmlformats.org/officeDocument/2006/relationships/notesSlide" Target="/ppt/notesSlides/notesSlide2.xml" Id="R2a25d671ab9d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27bb15d124ef7" /><Relationship Type="http://schemas.openxmlformats.org/officeDocument/2006/relationships/image" Target="/ppt/media/image3.jpeg" Id="Rbffab36b37d54160" /><Relationship Type="http://schemas.openxmlformats.org/officeDocument/2006/relationships/notesSlide" Target="/ppt/notesSlides/notesSlide3.xml" Id="R86e6110f21a446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e8037d3e64d17"/>
          <a:stretch xmlns:a="http://schemas.openxmlformats.org/drawingml/2006/main"/>
        </p:blipFill>
        <p:spPr>
          <a:xfrm xmlns:a="http://schemas.openxmlformats.org/drawingml/2006/main">
            <a:off x="400050" y="3619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4D97B49-A9B1-477C-B6D7-4472AE3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5F66"/>
                </a:solidFill>
              </a:defRPr>
            </a:pPr>
            <a:r>
              <a:rPr sz="1200" b="1">
                <a:solidFill>
                  <a:srgbClr val="5A5F66"/>
                </a:solidFill>
              </a:rPr>
              <a:t>WRIGHT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2728FD2-1ACF-46BD-9EC5-D8415798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LOCAL ENGINEERING CONTROL PLANE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36B4BC16-CF56-4D1A-8EDD-9F0D5AD7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Run Wright where engineering work lives</a:t>
            </a:r>
          </a:p>
        </p:txBody>
      </p:sp>
      <p:sp>
        <p:nvSpPr>
          <p:cNvPr id="5" name="subhead">
            <a:extLst xmlns:a="http://schemas.openxmlformats.org/drawingml/2006/main">
              <a:ext uri="{FF2B5EF4-FFF2-40B4-BE49-F238E27FC236}">
                <a16:creationId xmlns:a16="http://schemas.microsoft.com/office/drawing/2014/main" id="{578654D6-6BA9-43B2-ADF1-C5869643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F66"/>
                </a:solidFill>
              </a:defRPr>
            </a:pPr>
            <a:r>
              <a:rPr sz="1800" b="0">
                <a:solidFill>
                  <a:srgbClr val="5A5F66"/>
                </a:solidFill>
              </a:rPr>
              <a:t>Works on NVIDIA DGX Spark and similar AI workstations, beside local models, private data, and selected engineering toolchains.</a:t>
            </a:r>
          </a:p>
        </p:txBody>
      </p:sp>
      <p:sp>
        <p:nvSpPr>
          <p:cNvPr id="6" name="right-rail">
            <a:extLst xmlns:a="http://schemas.openxmlformats.org/drawingml/2006/main">
              <a:ext uri="{FF2B5EF4-FFF2-40B4-BE49-F238E27FC236}">
                <a16:creationId xmlns:a16="http://schemas.microsoft.com/office/drawing/2014/main" id="{08056D7C-5E14-4BB8-8094-EDABCD5A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l-label">
            <a:extLst xmlns:a="http://schemas.openxmlformats.org/drawingml/2006/main">
              <a:ext uri="{FF2B5EF4-FFF2-40B4-BE49-F238E27FC236}">
                <a16:creationId xmlns:a16="http://schemas.microsoft.com/office/drawing/2014/main" id="{7CBD3D17-06EC-45D2-9336-BBC89F5E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04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BCC4"/>
                </a:solidFill>
              </a:defRPr>
            </a:pPr>
            <a:r>
              <a:rPr sz="1050" b="1">
                <a:solidFill>
                  <a:srgbClr val="B8BCC4"/>
                </a:solidFill>
              </a:rPr>
              <a:t>WORKSTATION READY</a:t>
            </a:r>
          </a:p>
        </p:txBody>
      </p:sp>
      <p:sp>
        <p:nvSpPr>
          <p:cNvPr id="8" name="dgx">
            <a:extLst xmlns:a="http://schemas.openxmlformats.org/drawingml/2006/main">
              <a:ext uri="{FF2B5EF4-FFF2-40B4-BE49-F238E27FC236}">
                <a16:creationId xmlns:a16="http://schemas.microsoft.com/office/drawing/2014/main" id="{A59644DF-622B-46B2-B099-C3F7038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DGX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9" name="rail-copy">
            <a:extLst xmlns:a="http://schemas.openxmlformats.org/drawingml/2006/main">
              <a:ext uri="{FF2B5EF4-FFF2-40B4-BE49-F238E27FC236}">
                <a16:creationId xmlns:a16="http://schemas.microsoft.com/office/drawing/2014/main" id="{2152B4F5-CCEB-4F26-8EDF-CF44B0B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Local AI compute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Private workspaces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Engineering viewers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Automatic backups</a:t>
            </a:r>
          </a:p>
        </p:txBody>
      </p:sp>
      <p:sp>
        <p:nvSpPr>
          <p:cNvPr id="1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91EC890-0A6D-4C4B-A190-A69BCD66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foot">
            <a:extLst xmlns:a="http://schemas.openxmlformats.org/drawingml/2006/main">
              <a:ext uri="{FF2B5EF4-FFF2-40B4-BE49-F238E27FC236}">
                <a16:creationId xmlns:a16="http://schemas.microsoft.com/office/drawing/2014/main" id="{2BD1163C-54FE-41CE-9FBD-833D7E58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340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8DC"/>
                </a:solidFill>
              </a:defRPr>
            </a:pPr>
            <a:r>
              <a:rPr sz="1425" b="0">
                <a:solidFill>
                  <a:srgbClr val="D6D8DC"/>
                </a:solidFill>
              </a:rPr>
              <a:t>Keep proprietary design work close to the teams and systems that own it.</a:t>
            </a:r>
          </a:p>
        </p:txBody>
      </p:sp>
      <p:sp>
        <p:nvSpPr>
          <p:cNvPr id="12" name="block-bg-1">
            <a:extLst xmlns:a="http://schemas.openxmlformats.org/drawingml/2006/main">
              <a:ext uri="{FF2B5EF4-FFF2-40B4-BE49-F238E27FC236}">
                <a16:creationId xmlns:a16="http://schemas.microsoft.com/office/drawing/2014/main" id="{D634D726-70DE-4A19-8A73-D749FA3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lock-title-1">
            <a:extLst xmlns:a="http://schemas.openxmlformats.org/drawingml/2006/main">
              <a:ext uri="{FF2B5EF4-FFF2-40B4-BE49-F238E27FC236}">
                <a16:creationId xmlns:a16="http://schemas.microsoft.com/office/drawing/2014/main" id="{8BEEFA18-3583-416D-ACD7-BA96855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Workspace data</a:t>
            </a:r>
          </a:p>
        </p:txBody>
      </p:sp>
      <p:sp>
        <p:nvSpPr>
          <p:cNvPr id="14" name="block-body-1">
            <a:extLst xmlns:a="http://schemas.openxmlformats.org/drawingml/2006/main">
              <a:ext uri="{FF2B5EF4-FFF2-40B4-BE49-F238E27FC236}">
                <a16:creationId xmlns:a16="http://schemas.microsoft.com/office/drawing/2014/main" id="{F73110AF-05CB-4608-BF8D-204D8327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F66"/>
                </a:solidFill>
              </a:defRPr>
            </a:pPr>
            <a:r>
              <a:rPr sz="1350" b="0">
                <a:solidFill>
                  <a:srgbClr val="5A5F66"/>
                </a:solidFill>
              </a:rPr>
              <a:t>CAD, CAE, CAM, FEA, MFG files, tasks, and outputs.</a:t>
            </a:r>
          </a:p>
        </p:txBody>
      </p:sp>
      <p:sp>
        <p:nvSpPr>
          <p:cNvPr id="15" name="block-bg-2">
            <a:extLst xmlns:a="http://schemas.openxmlformats.org/drawingml/2006/main">
              <a:ext uri="{FF2B5EF4-FFF2-40B4-BE49-F238E27FC236}">
                <a16:creationId xmlns:a16="http://schemas.microsoft.com/office/drawing/2014/main" id="{0C8C27DD-C406-49BF-A401-973A698E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14800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lock-title-2">
            <a:extLst xmlns:a="http://schemas.openxmlformats.org/drawingml/2006/main">
              <a:ext uri="{FF2B5EF4-FFF2-40B4-BE49-F238E27FC236}">
                <a16:creationId xmlns:a16="http://schemas.microsoft.com/office/drawing/2014/main" id="{968BD6A0-D563-4BB5-95BD-4DC4FDC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Engineering viewers</a:t>
            </a:r>
          </a:p>
        </p:txBody>
      </p:sp>
      <p:sp>
        <p:nvSpPr>
          <p:cNvPr id="17" name="block-body-2">
            <a:extLst xmlns:a="http://schemas.openxmlformats.org/drawingml/2006/main">
              <a:ext uri="{FF2B5EF4-FFF2-40B4-BE49-F238E27FC236}">
                <a16:creationId xmlns:a16="http://schemas.microsoft.com/office/drawing/2014/main" id="{D4A60A84-10E8-4D94-B8A7-6ADC315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F66"/>
                </a:solidFill>
              </a:defRPr>
            </a:pPr>
            <a:r>
              <a:rPr sz="1350" b="0">
                <a:solidFill>
                  <a:srgbClr val="5A5F66"/>
                </a:solidFill>
              </a:rPr>
              <a:t>Inspect geometry, meshes, and generated artifacts in place.</a:t>
            </a:r>
          </a:p>
        </p:txBody>
      </p:sp>
      <p:sp>
        <p:nvSpPr>
          <p:cNvPr id="18" name="block-bg-3">
            <a:extLst xmlns:a="http://schemas.openxmlformats.org/drawingml/2006/main">
              <a:ext uri="{FF2B5EF4-FFF2-40B4-BE49-F238E27FC236}">
                <a16:creationId xmlns:a16="http://schemas.microsoft.com/office/drawing/2014/main" id="{0F41E6E1-FEA0-4FA6-98D9-E65D06B1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20764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lock-title-3">
            <a:extLst xmlns:a="http://schemas.openxmlformats.org/drawingml/2006/main">
              <a:ext uri="{FF2B5EF4-FFF2-40B4-BE49-F238E27FC236}">
                <a16:creationId xmlns:a16="http://schemas.microsoft.com/office/drawing/2014/main" id="{58F6CFC2-D56B-4559-992C-69FFC0E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43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Backups by design</a:t>
            </a:r>
          </a:p>
        </p:txBody>
      </p:sp>
      <p:sp>
        <p:nvSpPr>
          <p:cNvPr id="20" name="block-body-3">
            <a:extLst xmlns:a="http://schemas.openxmlformats.org/drawingml/2006/main">
              <a:ext uri="{FF2B5EF4-FFF2-40B4-BE49-F238E27FC236}">
                <a16:creationId xmlns:a16="http://schemas.microsoft.com/office/drawing/2014/main" id="{B6EA007F-D1B9-427A-A876-B5C3107D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577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F66"/>
                </a:solidFill>
              </a:defRPr>
            </a:pPr>
            <a:r>
              <a:rPr sz="1350" b="0">
                <a:solidFill>
                  <a:srgbClr val="5A5F66"/>
                </a:solidFill>
              </a:rPr>
              <a:t>Persistent workspaces protect key data during agent runs.</a:t>
            </a:r>
          </a:p>
        </p:txBody>
      </p:sp>
    </p:spTree>
    <p:extLst>
      <p:ext uri="{BB962C8B-B14F-4D97-AF65-F5344CB8AC3E}">
        <p14:creationId xmlns:p14="http://schemas.microsoft.com/office/powerpoint/2010/main" val="2030958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9beaaee654702"/>
          <a:stretch xmlns:a="http://schemas.openxmlformats.org/drawingml/2006/main"/>
        </p:blipFill>
        <p:spPr>
          <a:xfrm xmlns:a="http://schemas.openxmlformats.org/drawingml/2006/main">
            <a:off x="400050" y="3619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9E5EA26-0C0D-4B2B-84D7-325474A8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5F66"/>
                </a:solidFill>
              </a:defRPr>
            </a:pPr>
            <a:r>
              <a:rPr sz="1200" b="1">
                <a:solidFill>
                  <a:srgbClr val="5A5F66"/>
                </a:solidFill>
              </a:rPr>
              <a:t>WRIGHT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C7223F2-E8BD-4771-9400-79155E99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STRIPE-POWERED TOOL ACCESS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CF938965-F408-433C-95D8-EACDDC1E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Buy, build, or bring engineering tools</a:t>
            </a:r>
          </a:p>
        </p:txBody>
      </p:sp>
      <p:sp>
        <p:nvSpPr>
          <p:cNvPr id="5" name="subhead">
            <a:extLst xmlns:a="http://schemas.openxmlformats.org/drawingml/2006/main">
              <a:ext uri="{FF2B5EF4-FFF2-40B4-BE49-F238E27FC236}">
                <a16:creationId xmlns:a16="http://schemas.microsoft.com/office/drawing/2014/main" id="{B0FAF2C1-A525-4B93-B322-2FB135E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F66"/>
                </a:solidFill>
              </a:defRPr>
            </a:pPr>
            <a:r>
              <a:rPr sz="1800" b="0">
                <a:solidFill>
                  <a:srgbClr val="5A5F66"/>
                </a:solidFill>
              </a:rPr>
              <a:t>Wright connects tool builders, vendors, and engineering teams through MCP-ready software access and real-world tool purchases.</a:t>
            </a:r>
          </a:p>
        </p:txBody>
      </p:sp>
      <p:sp>
        <p:nvSpPr>
          <p:cNvPr id="6" name="stripe-band">
            <a:extLst xmlns:a="http://schemas.openxmlformats.org/drawingml/2006/main">
              <a:ext uri="{FF2B5EF4-FFF2-40B4-BE49-F238E27FC236}">
                <a16:creationId xmlns:a16="http://schemas.microsoft.com/office/drawing/2014/main" id="{F39296DB-2717-4D71-A147-30EA1F16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ipe-title">
            <a:extLst xmlns:a="http://schemas.openxmlformats.org/drawingml/2006/main">
              <a:ext uri="{FF2B5EF4-FFF2-40B4-BE49-F238E27FC236}">
                <a16:creationId xmlns:a16="http://schemas.microsoft.com/office/drawing/2014/main" id="{3715C9B7-BBE9-42BF-9FD6-AC6E890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Stripe handles subscriptions and purchases</a:t>
            </a:r>
          </a:p>
        </p:txBody>
      </p:sp>
      <p:sp>
        <p:nvSpPr>
          <p:cNvPr id="8" name="stripe-copy">
            <a:extLst xmlns:a="http://schemas.openxmlformats.org/drawingml/2006/main">
              <a:ext uri="{FF2B5EF4-FFF2-40B4-BE49-F238E27FC236}">
                <a16:creationId xmlns:a16="http://schemas.microsoft.com/office/drawing/2014/main" id="{276E0609-18B5-409C-89E0-5512B509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AED"/>
                </a:solidFill>
              </a:defRPr>
            </a:pPr>
            <a:r>
              <a:rPr sz="1350" b="0">
                <a:solidFill>
                  <a:srgbClr val="E8EAED"/>
                </a:solidFill>
              </a:rPr>
              <a:t>Subscribe to MCP tools, buy software, or purchase hardware tools, fixtures, tooling, and manufacturing services.</a:t>
            </a:r>
          </a:p>
        </p:txBody>
      </p:sp>
      <p:sp>
        <p:nvSpPr>
          <p:cNvPr id="9" name="stripe-word">
            <a:extLst xmlns:a="http://schemas.openxmlformats.org/drawingml/2006/main">
              <a:ext uri="{FF2B5EF4-FFF2-40B4-BE49-F238E27FC236}">
                <a16:creationId xmlns:a16="http://schemas.microsoft.com/office/drawing/2014/main" id="{220A299A-C543-4B4F-960D-DCE8779D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10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STRIPE</a:t>
            </a:r>
          </a:p>
        </p:txBody>
      </p:sp>
      <p:sp>
        <p:nvSpPr>
          <p:cNvPr id="10" name="compact-bg-1">
            <a:extLst xmlns:a="http://schemas.openxmlformats.org/drawingml/2006/main">
              <a:ext uri="{FF2B5EF4-FFF2-40B4-BE49-F238E27FC236}">
                <a16:creationId xmlns:a16="http://schemas.microsoft.com/office/drawing/2014/main" id="{AD893E7C-075C-45E9-9976-C95B869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ct-title-1">
            <a:extLst xmlns:a="http://schemas.openxmlformats.org/drawingml/2006/main">
              <a:ext uri="{FF2B5EF4-FFF2-40B4-BE49-F238E27FC236}">
                <a16:creationId xmlns:a16="http://schemas.microsoft.com/office/drawing/2014/main" id="{03F16A0F-3185-495D-90C3-F211484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MCP software</a:t>
            </a:r>
          </a:p>
        </p:txBody>
      </p:sp>
      <p:sp>
        <p:nvSpPr>
          <p:cNvPr id="12" name="compact-body-1">
            <a:extLst xmlns:a="http://schemas.openxmlformats.org/drawingml/2006/main">
              <a:ext uri="{FF2B5EF4-FFF2-40B4-BE49-F238E27FC236}">
                <a16:creationId xmlns:a16="http://schemas.microsoft.com/office/drawing/2014/main" id="{94B3FD46-88EE-47B8-9E6F-CC2308A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Subscribe to CAD, CAE, CAM, FEA, and manufacturing tools.</a:t>
            </a:r>
          </a:p>
        </p:txBody>
      </p:sp>
      <p:sp>
        <p:nvSpPr>
          <p:cNvPr id="13" name="compact-bg-2">
            <a:extLst xmlns:a="http://schemas.openxmlformats.org/drawingml/2006/main">
              <a:ext uri="{FF2B5EF4-FFF2-40B4-BE49-F238E27FC236}">
                <a16:creationId xmlns:a16="http://schemas.microsoft.com/office/drawing/2014/main" id="{56F63819-9C22-4743-9230-F413CB3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290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ct-title-2">
            <a:extLst xmlns:a="http://schemas.openxmlformats.org/drawingml/2006/main">
              <a:ext uri="{FF2B5EF4-FFF2-40B4-BE49-F238E27FC236}">
                <a16:creationId xmlns:a16="http://schemas.microsoft.com/office/drawing/2014/main" id="{C8C506AF-683B-4C1C-AA0F-F7F31BEA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385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Physical products</a:t>
            </a:r>
          </a:p>
        </p:txBody>
      </p:sp>
      <p:sp>
        <p:nvSpPr>
          <p:cNvPr id="15" name="compact-body-2">
            <a:extLst xmlns:a="http://schemas.openxmlformats.org/drawingml/2006/main">
              <a:ext uri="{FF2B5EF4-FFF2-40B4-BE49-F238E27FC236}">
                <a16:creationId xmlns:a16="http://schemas.microsoft.com/office/drawing/2014/main" id="{CB99CBA2-578C-48A1-901C-9716F855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576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Purchase hardware tools, fixtures, tooling, and services.</a:t>
            </a:r>
          </a:p>
        </p:txBody>
      </p:sp>
      <p:sp>
        <p:nvSpPr>
          <p:cNvPr id="16" name="compact-bg-3">
            <a:extLst xmlns:a="http://schemas.openxmlformats.org/drawingml/2006/main">
              <a:ext uri="{FF2B5EF4-FFF2-40B4-BE49-F238E27FC236}">
                <a16:creationId xmlns:a16="http://schemas.microsoft.com/office/drawing/2014/main" id="{BEE04F1D-8291-481F-9BD1-7068DBA4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ct-title-3">
            <a:extLst xmlns:a="http://schemas.openxmlformats.org/drawingml/2006/main">
              <a:ext uri="{FF2B5EF4-FFF2-40B4-BE49-F238E27FC236}">
                <a16:creationId xmlns:a16="http://schemas.microsoft.com/office/drawing/2014/main" id="{A07ABCB6-F917-4623-942F-D524A748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Custom tools</a:t>
            </a:r>
          </a:p>
        </p:txBody>
      </p:sp>
      <p:sp>
        <p:nvSpPr>
          <p:cNvPr id="18" name="compact-body-3">
            <a:extLst xmlns:a="http://schemas.openxmlformats.org/drawingml/2006/main">
              <a:ext uri="{FF2B5EF4-FFF2-40B4-BE49-F238E27FC236}">
                <a16:creationId xmlns:a16="http://schemas.microsoft.com/office/drawing/2014/main" id="{78525C24-0B27-40E6-ABF6-029CD476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Add internal MCP servers or publish through Tool Builder.</a:t>
            </a:r>
          </a:p>
        </p:txBody>
      </p:sp>
    </p:spTree>
    <p:extLst>
      <p:ext uri="{BB962C8B-B14F-4D97-AF65-F5344CB8AC3E}">
        <p14:creationId xmlns:p14="http://schemas.microsoft.com/office/powerpoint/2010/main" val="870738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ab36b37d54160"/>
          <a:stretch xmlns:a="http://schemas.openxmlformats.org/drawingml/2006/main"/>
        </p:blipFill>
        <p:spPr>
          <a:xfrm xmlns:a="http://schemas.openxmlformats.org/drawingml/2006/main">
            <a:off x="400050" y="3619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88DB88F-3F10-4F26-909A-FCC51412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5F66"/>
                </a:solidFill>
              </a:defRPr>
            </a:pPr>
            <a:r>
              <a:rPr sz="1200" b="1">
                <a:solidFill>
                  <a:srgbClr val="5A5F66"/>
                </a:solidFill>
              </a:rPr>
              <a:t>WRIGHT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576919D-E777-4948-B9B7-50ADBD3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HERMES PLUGIN + PARALLEL AGENTS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8179B2B7-BEE5-49D3-9108-BE03D6A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Delegate engineering tests to AI agents</a:t>
            </a:r>
          </a:p>
        </p:txBody>
      </p:sp>
      <p:sp>
        <p:nvSpPr>
          <p:cNvPr id="5" name="subhead">
            <a:extLst xmlns:a="http://schemas.openxmlformats.org/drawingml/2006/main">
              <a:ext uri="{FF2B5EF4-FFF2-40B4-BE49-F238E27FC236}">
                <a16:creationId xmlns:a16="http://schemas.microsoft.com/office/drawing/2014/main" id="{672CF8C8-FDD6-4A35-A30F-11FAA01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5F66"/>
                </a:solidFill>
              </a:defRPr>
            </a:pPr>
            <a:r>
              <a:rPr sz="1725" b="0">
                <a:solidFill>
                  <a:srgbClr val="5A5F66"/>
                </a:solidFill>
              </a:rPr>
              <a:t>Wright is fully integrated as a Hermes plugin, so all Hermes functionality remains available while Wright adds engineering workspaces, MCP tools, and viewers.</a:t>
            </a:r>
          </a:p>
        </p:txBody>
      </p:sp>
      <p:sp>
        <p:nvSpPr>
          <p:cNvPr id="6" name="flow-bg">
            <a:extLst xmlns:a="http://schemas.openxmlformats.org/drawingml/2006/main">
              <a:ext uri="{FF2B5EF4-FFF2-40B4-BE49-F238E27FC236}">
                <a16:creationId xmlns:a16="http://schemas.microsoft.com/office/drawing/2014/main" id="{AC944BE8-840A-41A9-8628-F02AA0B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385B4192-DA1C-487C-A0EE-0A5AB3DE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Designer /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Engineer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0911213F-AF67-4225-B1D8-82F632E1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5F66"/>
                </a:solidFill>
              </a:defRPr>
            </a:pPr>
            <a:r>
              <a:rPr sz="1950" b="1">
                <a:solidFill>
                  <a:srgbClr val="5A5F66"/>
                </a:solidFill>
              </a:rPr>
              <a:t>-&gt;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6091E362-4994-49BD-92E3-2C8817E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52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Hermes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A4B422D2-E671-405F-A555-E80AFC4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48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5F66"/>
                </a:solidFill>
              </a:defRPr>
            </a:pPr>
            <a:r>
              <a:rPr sz="1950" b="1">
                <a:solidFill>
                  <a:srgbClr val="5A5F66"/>
                </a:solidFill>
              </a:rPr>
              <a:t>-&gt;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B2BFF43A-B311-4D79-847A-6CDC22E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52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Parallel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agents</a:t>
            </a:r>
          </a:p>
        </p:txBody>
      </p:sp>
      <p:sp>
        <p:nvSpPr>
          <p:cNvPr id="12" name="arrow-2">
            <a:extLst xmlns:a="http://schemas.openxmlformats.org/drawingml/2006/main">
              <a:ext uri="{FF2B5EF4-FFF2-40B4-BE49-F238E27FC236}">
                <a16:creationId xmlns:a16="http://schemas.microsoft.com/office/drawing/2014/main" id="{79202B63-A853-424A-B565-F7EAA3D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5F66"/>
                </a:solidFill>
              </a:defRPr>
            </a:pPr>
            <a:r>
              <a:rPr sz="1950" b="1">
                <a:solidFill>
                  <a:srgbClr val="5A5F66"/>
                </a:solidFill>
              </a:rPr>
              <a:t>-&gt;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06534C1D-F30B-41BC-B3EE-D0CDC130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Tests +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artifacts</a:t>
            </a:r>
          </a:p>
        </p:txBody>
      </p:sp>
      <p:sp>
        <p:nvSpPr>
          <p:cNvPr id="14" name="compact-bg-1">
            <a:extLst xmlns:a="http://schemas.openxmlformats.org/drawingml/2006/main">
              <a:ext uri="{FF2B5EF4-FFF2-40B4-BE49-F238E27FC236}">
                <a16:creationId xmlns:a16="http://schemas.microsoft.com/office/drawing/2014/main" id="{677446DA-D5FB-4330-A6E7-CA065D6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act-title-1">
            <a:extLst xmlns:a="http://schemas.openxmlformats.org/drawingml/2006/main">
              <a:ext uri="{FF2B5EF4-FFF2-40B4-BE49-F238E27FC236}">
                <a16:creationId xmlns:a16="http://schemas.microsoft.com/office/drawing/2014/main" id="{1B8544CC-8FB2-40A1-BA5F-5C7FE589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Hermes native</a:t>
            </a:r>
          </a:p>
        </p:txBody>
      </p:sp>
      <p:sp>
        <p:nvSpPr>
          <p:cNvPr id="16" name="compact-body-1">
            <a:extLst xmlns:a="http://schemas.openxmlformats.org/drawingml/2006/main">
              <a:ext uri="{FF2B5EF4-FFF2-40B4-BE49-F238E27FC236}">
                <a16:creationId xmlns:a16="http://schemas.microsoft.com/office/drawing/2014/main" id="{4D1F64D4-A400-412A-B22B-082E0F89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All Hermes functionality remains available.</a:t>
            </a:r>
          </a:p>
        </p:txBody>
      </p:sp>
      <p:sp>
        <p:nvSpPr>
          <p:cNvPr id="17" name="compact-bg-2">
            <a:extLst xmlns:a="http://schemas.openxmlformats.org/drawingml/2006/main">
              <a:ext uri="{FF2B5EF4-FFF2-40B4-BE49-F238E27FC236}">
                <a16:creationId xmlns:a16="http://schemas.microsoft.com/office/drawing/2014/main" id="{8F2F6374-22BE-4D88-86A6-500E3D6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ct-title-2">
            <a:extLst xmlns:a="http://schemas.openxmlformats.org/drawingml/2006/main">
              <a:ext uri="{FF2B5EF4-FFF2-40B4-BE49-F238E27FC236}">
                <a16:creationId xmlns:a16="http://schemas.microsoft.com/office/drawing/2014/main" id="{E7DB1180-0ED7-45B3-A168-D02D52C8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625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Parallel testing</a:t>
            </a:r>
          </a:p>
        </p:txBody>
      </p:sp>
      <p:sp>
        <p:nvSpPr>
          <p:cNvPr id="19" name="compact-body-2">
            <a:extLst xmlns:a="http://schemas.openxmlformats.org/drawingml/2006/main">
              <a:ext uri="{FF2B5EF4-FFF2-40B4-BE49-F238E27FC236}">
                <a16:creationId xmlns:a16="http://schemas.microsoft.com/office/drawing/2014/main" id="{06C905B4-84FB-4700-8667-10ACBDF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816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Run checks, simulations, CAM prep, and variants.</a:t>
            </a:r>
          </a:p>
        </p:txBody>
      </p:sp>
      <p:sp>
        <p:nvSpPr>
          <p:cNvPr id="20" name="compact-bg-3">
            <a:extLst xmlns:a="http://schemas.openxmlformats.org/drawingml/2006/main">
              <a:ext uri="{FF2B5EF4-FFF2-40B4-BE49-F238E27FC236}">
                <a16:creationId xmlns:a16="http://schemas.microsoft.com/office/drawing/2014/main" id="{190DF742-6E60-4303-A7F8-CCCCA54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ct-title-3">
            <a:extLst xmlns:a="http://schemas.openxmlformats.org/drawingml/2006/main">
              <a:ext uri="{FF2B5EF4-FFF2-40B4-BE49-F238E27FC236}">
                <a16:creationId xmlns:a16="http://schemas.microsoft.com/office/drawing/2014/main" id="{0B3C5E7A-91AD-497D-B0C2-3F1D4EEA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Workspace memory</a:t>
            </a:r>
          </a:p>
        </p:txBody>
      </p:sp>
      <p:sp>
        <p:nvSpPr>
          <p:cNvPr id="22" name="compact-body-3">
            <a:extLst xmlns:a="http://schemas.openxmlformats.org/drawingml/2006/main">
              <a:ext uri="{FF2B5EF4-FFF2-40B4-BE49-F238E27FC236}">
                <a16:creationId xmlns:a16="http://schemas.microsoft.com/office/drawing/2014/main" id="{F54E206E-42E6-429C-BA29-8B2694E8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Capture files, results, prompts, traces, and backups.</a:t>
            </a:r>
          </a:p>
        </p:txBody>
      </p:sp>
      <p:sp>
        <p:nvSpPr>
          <p:cNvPr id="23" name="compact-bg-4">
            <a:extLst xmlns:a="http://schemas.openxmlformats.org/drawingml/2006/main">
              <a:ext uri="{FF2B5EF4-FFF2-40B4-BE49-F238E27FC236}">
                <a16:creationId xmlns:a16="http://schemas.microsoft.com/office/drawing/2014/main" id="{3F30D07B-5E2D-4C82-908D-24F587A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5300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ct-title-4">
            <a:extLst xmlns:a="http://schemas.openxmlformats.org/drawingml/2006/main">
              <a:ext uri="{FF2B5EF4-FFF2-40B4-BE49-F238E27FC236}">
                <a16:creationId xmlns:a16="http://schemas.microsoft.com/office/drawing/2014/main" id="{DF8C2526-C790-49A6-8C29-3972CF1D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62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Human control</a:t>
            </a:r>
          </a:p>
        </p:txBody>
      </p:sp>
      <p:sp>
        <p:nvSpPr>
          <p:cNvPr id="25" name="compact-body-4">
            <a:extLst xmlns:a="http://schemas.openxmlformats.org/drawingml/2006/main">
              <a:ext uri="{FF2B5EF4-FFF2-40B4-BE49-F238E27FC236}">
                <a16:creationId xmlns:a16="http://schemas.microsoft.com/office/drawing/2014/main" id="{6C707C9F-3255-48E3-96AA-4C61852D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81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F66"/>
                </a:solidFill>
              </a:defRPr>
            </a:pPr>
            <a:r>
              <a:rPr sz="1275" b="0">
                <a:solidFill>
                  <a:srgbClr val="5A5F66"/>
                </a:solidFill>
              </a:rPr>
              <a:t>Gate writes, purchases, and machine actions.</a:t>
            </a:r>
          </a:p>
        </p:txBody>
      </p:sp>
      <p:sp>
        <p:nvSpPr>
          <p:cNvPr id="26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830CBA74-781E-49F2-A590-AE37EEB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osing">
            <a:extLst xmlns:a="http://schemas.openxmlformats.org/drawingml/2006/main">
              <a:ext uri="{FF2B5EF4-FFF2-40B4-BE49-F238E27FC236}">
                <a16:creationId xmlns:a16="http://schemas.microsoft.com/office/drawing/2014/main" id="{8A11B8D5-16E7-4A8D-9F8E-C90EF8C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Agent-ready workspaces: organized data, deterministic tools, delegated tests, automatic backups, and engineering viewers.</a:t>
            </a:r>
          </a:p>
        </p:txBody>
      </p:sp>
    </p:spTree>
    <p:extLst>
      <p:ext uri="{BB962C8B-B14F-4D97-AF65-F5344CB8AC3E}">
        <p14:creationId xmlns:p14="http://schemas.microsoft.com/office/powerpoint/2010/main" val="984182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2026-06-30T22:41:58.6170000Z</dcterms:created>
  <dcterms:modified xsi:type="dcterms:W3CDTF">2026-06-30T22:41:58.6170000Z</dcterms:modified>
</coreProperties>
</file>